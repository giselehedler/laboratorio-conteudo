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Capa. Fica na tela no início.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Pré-live (20h15 a 20h27). Intercalar com os vídeos de depoimento (Daniela, Lysiane, Juliana, Maria).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1. Ler nomes, cidades e profissões. Comemorar quem acompanha há mais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1. "Depois da aula eu vou contar uma coisa. Eu e a Gi estávamos maturando isso faz tempo."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2. Antes: pedir para chamarem colegas nos grupos e na comunidade do Facebook; Instagram vem para o YouTube.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3. Comentar que quase ninguém responde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Bordão da noite. Repetir sempre que mostrar um exame "normal".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4.1. Pedir para repetirem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4.1. A frase em dourado só aparece depois das respostas (animação ou slide seguinte).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4.1. Ler em voz alta e perguntar: "Bateu? Me conta no chat."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4.2. "A culpa não é tua. Tu foi ensinado a olhar o quadradinho."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4.3. Ler o texto guiado do roteiro com calma. Deixar 2 a 3 minutos de silêncio com música baixa no passo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4.3. Mostrar depois que eles escreverem. Exemplo ilustrativo, não é um caso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Gabriel escolhe 2 ou 3 respostas e raciocina ao vivo: por onde começaria a investigar.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para repetirem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5. O Gabriel conta a história verdadeira de 1999 (1 a 2 minutos).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Bloco 6. A revelação. Pausa antes e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"Dei nome de quem olhou o paciente inteiro antes de todo mundo." Ainda sem preço.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total de R$ 19.970 inclui a Avançada (R$ 1.988). Mais de 300 horas de aula. Ainda sem o preço da Black.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Ainda sem o preço da Black. A Black entra só no último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garantia fica antes do preço: tira o risco da decisão.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ÚLTIMO SLIDE. Fica na tela durante todas as perguntas. Depois do preço não há mais conteúdo, só respostas e chamada para o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ena.jpg"/>
          <p:cNvPicPr>
            <a:picLocks noChangeAspect="1"/>
          </p:cNvPicPr>
          <p:nvPr/>
        </p:nvPicPr>
        <p:blipFill>
          <a:blip r:embed="rId2"/>
          <a:srcRect l="6344" r="46526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pic>
        <p:nvPicPr>
          <p:cNvPr id="3" name="Picture 2" descr="logo-fsa-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720090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737360"/>
            <a:ext cx="58521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i="0" b="0">
                <a:solidFill>
                  <a:srgbClr val="FBF6EF"/>
                </a:solidFill>
                <a:latin typeface="Cormorant Garamond"/>
              </a:rPr>
              <a:t>Festa dos 27 anos da</a:t>
            </a:r>
          </a:p>
          <a:p>
            <a:pPr algn="l">
              <a:lnSpc>
                <a:spcPct val="100000"/>
              </a:lnSpc>
            </a:pPr>
            <a:r>
              <a:rPr sz="5600" i="1" b="0">
                <a:solidFill>
                  <a:srgbClr val="E9C56A"/>
                </a:solidFill>
                <a:latin typeface="Cormorant Garamond"/>
              </a:rPr>
              <a:t>Nutrição Funcional</a:t>
            </a:r>
          </a:p>
          <a:p>
            <a:pPr algn="l">
              <a:lnSpc>
                <a:spcPct val="100000"/>
              </a:lnSpc>
            </a:pPr>
            <a:r>
              <a:rPr sz="1400" i="0" b="0">
                <a:solidFill>
                  <a:srgbClr val="FBF6EF"/>
                </a:solidFill>
                <a:latin typeface="Archiv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A grande revelação da Black da FSA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94960"/>
            <a:ext cx="5852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i="0" b="1">
                <a:solidFill>
                  <a:srgbClr val="E0B64F"/>
                </a:solidFill>
                <a:latin typeface="Archivo"/>
              </a:rPr>
              <a:t>19.10  ·  20H27  ·  AO VIVO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fsa-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720090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46304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400" i="0" b="0">
                <a:solidFill>
                  <a:srgbClr val="FBF6EF"/>
                </a:solidFill>
                <a:latin typeface="Cormorant Garamond"/>
              </a:rPr>
              <a:t>Já vamos começar.</a:t>
            </a:r>
          </a:p>
          <a:p>
            <a:pPr algn="ctr">
              <a:lnSpc>
                <a:spcPct val="95000"/>
              </a:lnSpc>
            </a:pPr>
            <a:r>
              <a:rPr sz="5400" i="1" b="0">
                <a:solidFill>
                  <a:srgbClr val="E9C56A"/>
                </a:solidFill>
                <a:latin typeface="Cormorant Garamond"/>
              </a:rPr>
              <a:t>Separa uma folha em branco e uma caneta.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i="0" b="0">
                <a:solidFill>
                  <a:srgbClr val="D2C1CA"/>
                </a:solidFill>
                <a:latin typeface="Archivo"/>
              </a:rPr>
              <a:t>Chama quem atende com você para assistir junto.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DC447C"/>
                </a:solidFill>
                <a:latin typeface="Archivo"/>
              </a:rPr>
              <a:t>● ME CONTA NO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i="0" b="0">
                <a:solidFill>
                  <a:srgbClr val="FBF6EF"/>
                </a:solidFill>
                <a:latin typeface="Cormorant Garamond"/>
              </a:rPr>
              <a:t>De onde tu é?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i="0" b="0">
                <a:solidFill>
                  <a:srgbClr val="FBF6EF"/>
                </a:solidFill>
                <a:latin typeface="Cormorant Garamond"/>
              </a:rPr>
              <a:t>Qual a tua profissão?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i="0" b="0">
                <a:solidFill>
                  <a:srgbClr val="FBF6EF"/>
                </a:solidFill>
                <a:latin typeface="Cormorant Garamond"/>
              </a:rPr>
              <a:t>Desde quando acompanha a Nutrição Funcional?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0" i="0" b="0">
                <a:solidFill>
                  <a:srgbClr val="FBF6EF"/>
                </a:solidFill>
                <a:latin typeface="Cormorant Garamond"/>
              </a:rPr>
              <a:t>Hoje não é só Black.</a:t>
            </a:r>
          </a:p>
          <a:p>
            <a:pPr algn="ctr">
              <a:lnSpc>
                <a:spcPct val="95000"/>
              </a:lnSpc>
            </a:pPr>
            <a:r>
              <a:rPr sz="7200" i="1" b="0">
                <a:solidFill>
                  <a:srgbClr val="E9C56A"/>
                </a:solidFill>
                <a:latin typeface="Cormorant Garamond"/>
              </a:rPr>
              <a:t>Festa de professor é com aula.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0" i="0" b="0">
                <a:solidFill>
                  <a:srgbClr val="FBF6EF"/>
                </a:solidFill>
                <a:latin typeface="Cormorant Garamond"/>
              </a:rPr>
              <a:t>Pega a folha e a caneta.</a:t>
            </a:r>
          </a:p>
          <a:p>
            <a:pPr algn="ctr">
              <a:lnSpc>
                <a:spcPct val="95000"/>
              </a:lnSpc>
            </a:pPr>
            <a:r>
              <a:rPr sz="6400" i="1" b="0">
                <a:solidFill>
                  <a:srgbClr val="E9C56A"/>
                </a:solidFill>
                <a:latin typeface="Cormorant Garamond"/>
              </a:rPr>
              <a:t>Posso começar?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i="0" b="1">
                <a:solidFill>
                  <a:srgbClr val="DC447C"/>
                </a:solidFill>
                <a:latin typeface="Archivo"/>
              </a:rPr>
              <a:t>Me dá o OK no chat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DC447C"/>
                </a:solidFill>
                <a:latin typeface="Archivo"/>
              </a:rPr>
              <a:t>● ME CONTA NO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i="0" b="0">
                <a:solidFill>
                  <a:srgbClr val="FBF6EF"/>
                </a:solidFill>
                <a:latin typeface="Cormorant Garamond"/>
              </a:rPr>
              <a:t>Pensa nos últimos 3 laudos "normais" que chegaram até ti.</a:t>
            </a:r>
          </a:p>
          <a:p>
            <a:pPr algn="l">
              <a:lnSpc>
                <a:spcPct val="100000"/>
              </a:lnSpc>
            </a:pPr>
            <a:r>
              <a:rPr sz="4000" i="1" b="0">
                <a:solidFill>
                  <a:srgbClr val="E9C56A"/>
                </a:solidFill>
                <a:latin typeface="Cormorant Garamond"/>
              </a:rPr>
              <a:t>Quantos desses pacientes estavam realmente bem?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4023360"/>
            <a:ext cx="1920240" cy="192024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4023360"/>
            <a:ext cx="192024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i="0" b="0">
                <a:solidFill>
                  <a:srgbClr val="E9C56A"/>
                </a:solidFill>
                <a:latin typeface="Cormorant Garamond"/>
              </a:rPr>
              <a:t>0</a:t>
            </a:r>
          </a:p>
        </p:txBody>
      </p:sp>
      <p:sp>
        <p:nvSpPr>
          <p:cNvPr id="6" name="Oval 5"/>
          <p:cNvSpPr/>
          <p:nvPr/>
        </p:nvSpPr>
        <p:spPr>
          <a:xfrm>
            <a:off x="3931920" y="4023360"/>
            <a:ext cx="1920240" cy="192024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4023360"/>
            <a:ext cx="192024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i="0" b="0">
                <a:solidFill>
                  <a:srgbClr val="E9C56A"/>
                </a:solidFill>
                <a:latin typeface="Cormorant Garamond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4023360"/>
            <a:ext cx="1920240" cy="192024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192024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i="0" b="0">
                <a:solidFill>
                  <a:srgbClr val="E9C56A"/>
                </a:solidFill>
                <a:latin typeface="Cormorant Garamond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8869680" y="4023360"/>
            <a:ext cx="1920240" cy="192024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4023360"/>
            <a:ext cx="192024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0" i="0" b="0">
                <a:solidFill>
                  <a:srgbClr val="E9C56A"/>
                </a:solidFill>
                <a:latin typeface="Cormorant Garamon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000" i="0" b="0">
                <a:solidFill>
                  <a:srgbClr val="FBF6EF"/>
                </a:solidFill>
                <a:latin typeface="Cormorant Garamond"/>
              </a:rPr>
              <a:t>Normal</a:t>
            </a:r>
          </a:p>
          <a:p>
            <a:pPr algn="ctr">
              <a:lnSpc>
                <a:spcPct val="95000"/>
              </a:lnSpc>
            </a:pPr>
            <a:r>
              <a:rPr sz="12000" i="1" b="0">
                <a:solidFill>
                  <a:srgbClr val="DC447C"/>
                </a:solidFill>
                <a:latin typeface="Cormorant Garamond"/>
              </a:rPr>
              <a:t>para quem?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ISSO TEM NOME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i="1" b="0">
                <a:solidFill>
                  <a:srgbClr val="E9C56A"/>
                </a:solidFill>
                <a:latin typeface="Cormorant Garamond"/>
              </a:rPr>
              <a:t>Narrativa Cega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i="0" b="0">
                <a:solidFill>
                  <a:srgbClr val="FBF6EF"/>
                </a:solidFill>
                <a:latin typeface="Cormorant Garamond"/>
              </a:rPr>
              <a:t>Olhar só o número do laudo, só o protocolo pronto, e ir na tentativa e erro.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400" i="0" b="0">
                <a:solidFill>
                  <a:srgbClr val="FBF6EF"/>
                </a:solidFill>
                <a:latin typeface="Cormorant Garamond"/>
              </a:rPr>
              <a:t>Ninguém nasce com a Narrativa Cega.</a:t>
            </a:r>
          </a:p>
          <a:p>
            <a:pPr algn="ctr">
              <a:lnSpc>
                <a:spcPct val="95000"/>
              </a:lnSpc>
            </a:pPr>
            <a:r>
              <a:rPr sz="6400" i="1" b="0">
                <a:solidFill>
                  <a:srgbClr val="E9C56A"/>
                </a:solidFill>
                <a:latin typeface="Cormorant Garamond"/>
              </a:rPr>
              <a:t>O sistema ensinou.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DE ONDE VEM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i="0" b="0">
                <a:solidFill>
                  <a:srgbClr val="FBF6EF"/>
                </a:solidFill>
                <a:latin typeface="Cormorant Garamond"/>
              </a:rPr>
              <a:t>Como nasce o "normal" do laudo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11064240" cy="3840480"/>
          </a:xfrm>
          <a:prstGeom prst="rect">
            <a:avLst/>
          </a:prstGeom>
          <a:solidFill>
            <a:srgbClr val="2B0739"/>
          </a:solidFill>
          <a:ln w="25400">
            <a:solidFill>
              <a:srgbClr val="DC44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651760"/>
            <a:ext cx="1042416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i="0" b="1">
                <a:solidFill>
                  <a:srgbClr val="DC447C"/>
                </a:solidFill>
                <a:latin typeface="Archivo"/>
              </a:rPr>
              <a:t>PARA O TIME: CONTEÚDO DO GABRIEL</a:t>
            </a:r>
          </a:p>
          <a:p>
            <a:pPr algn="l">
              <a:lnSpc>
                <a:spcPct val="115000"/>
              </a:lnSpc>
            </a:pPr>
            <a:r>
              <a:rPr sz="1500" i="0" b="0">
                <a:solidFill>
                  <a:srgbClr val="D2C1CA"/>
                </a:solidFill>
                <a:latin typeface="Archivo"/>
              </a:rPr>
              <a:t>Como a faixa de referência do laboratório é construída e por que "normal" não quer dizer "saudável". Gráfico, números e a fonte de cada dado vêm do Gabriel. Podem ser 1 a 3 slides. Não usar dado sem fonte.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DC447C"/>
                </a:solidFill>
                <a:latin typeface="Archivo"/>
              </a:rPr>
              <a:t>● ME CONTA NO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i="0" b="0">
                <a:solidFill>
                  <a:srgbClr val="FBF6EF"/>
                </a:solidFill>
                <a:latin typeface="Cormorant Garamond"/>
              </a:rPr>
              <a:t>Qual frase tu mais ouviu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i="0" b="0">
                <a:solidFill>
                  <a:srgbClr val="FBF6EF"/>
                </a:solidFill>
                <a:latin typeface="Cormorant Garamond"/>
              </a:rPr>
              <a:t>na faculdade sobre exame?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i="1" b="0">
                <a:solidFill>
                  <a:srgbClr val="E9C56A"/>
                </a:solidFill>
                <a:latin typeface="Cormorant Garamond"/>
              </a:rPr>
              <a:t>"Está dentro da referência."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TU RECONHECE QUANDO ELA APARECE NO CONSULTÓRIO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54864" cy="1005840"/>
          </a:xfrm>
          <a:prstGeom prst="rect">
            <a:avLst/>
          </a:prstGeom>
          <a:solidFill>
            <a:srgbClr val="D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FBF6EF"/>
                </a:solidFill>
                <a:latin typeface="Cormorant Garamond"/>
              </a:rPr>
              <a:t>Exames dentro da referência, e o paciente ainda com queixas que ninguém explicou.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54864" cy="1005840"/>
          </a:xfrm>
          <a:prstGeom prst="rect">
            <a:avLst/>
          </a:prstGeom>
          <a:solidFill>
            <a:srgbClr val="D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FBF6EF"/>
                </a:solidFill>
                <a:latin typeface="Cormorant Garamond"/>
              </a:rPr>
              <a:t>O ferro que tu suplementa por meses, ajusta a dose, troca a forma, e não sobe.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86200"/>
            <a:ext cx="54864" cy="1005840"/>
          </a:xfrm>
          <a:prstGeom prst="rect">
            <a:avLst/>
          </a:prstGeom>
          <a:solidFill>
            <a:srgbClr val="D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FBF6EF"/>
                </a:solidFill>
                <a:latin typeface="Cormorant Garamond"/>
              </a:rPr>
              <a:t>O protocolo que funciona numa paciente e não funciona na outra.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12079"/>
            <a:ext cx="54864" cy="1005840"/>
          </a:xfrm>
          <a:prstGeom prst="rect">
            <a:avLst/>
          </a:prstGeom>
          <a:solidFill>
            <a:srgbClr val="D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212079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FBF6EF"/>
                </a:solidFill>
                <a:latin typeface="Cormorant Garamond"/>
              </a:rPr>
              <a:t>Onze queixas, uma lista de suplementos e nenhuma ordem para começar.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9600" i="0" b="0">
                <a:solidFill>
                  <a:srgbClr val="FBF6EF"/>
                </a:solidFill>
                <a:latin typeface="Cormorant Garamond"/>
              </a:rPr>
              <a:t>A narrativa é cega.</a:t>
            </a:r>
          </a:p>
          <a:p>
            <a:pPr algn="ctr">
              <a:lnSpc>
                <a:spcPct val="95000"/>
              </a:lnSpc>
            </a:pPr>
            <a:r>
              <a:rPr sz="9600" i="1" b="0">
                <a:solidFill>
                  <a:srgbClr val="DC447C"/>
                </a:solidFill>
                <a:latin typeface="Cormorant Garamond"/>
              </a:rPr>
              <a:t>Tu não 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O QUE O LAUDO MOSTRA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7432"/>
          </a:xfrm>
          <a:prstGeom prst="rect">
            <a:avLst/>
          </a:prstGeom>
          <a:solidFill>
            <a:srgbClr val="D2C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4937760" y="1097280"/>
            <a:ext cx="2286000" cy="1234440"/>
          </a:xfrm>
          <a:prstGeom prst="triangle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691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i="0" b="1">
                <a:solidFill>
                  <a:srgbClr val="2A0F1F"/>
                </a:solidFill>
                <a:latin typeface="Archivo"/>
              </a:rPr>
              <a:t>O LAUDO</a:t>
            </a:r>
          </a:p>
        </p:txBody>
      </p:sp>
      <p:sp>
        <p:nvSpPr>
          <p:cNvPr id="6" name="Trapezoid 5"/>
          <p:cNvSpPr/>
          <p:nvPr/>
        </p:nvSpPr>
        <p:spPr>
          <a:xfrm rot="10800000">
            <a:off x="2194560" y="2377440"/>
            <a:ext cx="7772400" cy="4114800"/>
          </a:xfrm>
          <a:prstGeom prst="trapezoid">
            <a:avLst/>
          </a:prstGeom>
          <a:solidFill>
            <a:srgbClr val="2B0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31089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i="1" b="0">
                <a:solidFill>
                  <a:srgbClr val="E9C56A"/>
                </a:solidFill>
                <a:latin typeface="Cormorant Garamond"/>
              </a:rPr>
              <a:t>sono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1089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i="1" b="0">
                <a:solidFill>
                  <a:srgbClr val="E9C56A"/>
                </a:solidFill>
                <a:latin typeface="Cormorant Garamond"/>
              </a:rPr>
              <a:t>intestino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31089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i="1" b="0">
                <a:solidFill>
                  <a:srgbClr val="E9C56A"/>
                </a:solidFill>
                <a:latin typeface="Cormorant Garamond"/>
              </a:rPr>
              <a:t>alimentação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1089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i="1" b="0">
                <a:solidFill>
                  <a:srgbClr val="E9C56A"/>
                </a:solidFill>
                <a:latin typeface="Cormorant Garamond"/>
              </a:rPr>
              <a:t>estresse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43891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i="1" b="0">
                <a:solidFill>
                  <a:srgbClr val="E9C56A"/>
                </a:solidFill>
                <a:latin typeface="Cormorant Garamond"/>
              </a:rPr>
              <a:t>história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3891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i="1" b="0">
                <a:solidFill>
                  <a:srgbClr val="E9C56A"/>
                </a:solidFill>
                <a:latin typeface="Cormorant Garamond"/>
              </a:rPr>
              <a:t>como vive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43891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i="1" b="0">
                <a:solidFill>
                  <a:srgbClr val="E9C56A"/>
                </a:solidFill>
                <a:latin typeface="Cormorant Garamond"/>
              </a:rPr>
              <a:t>onde mora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38912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i="1" b="0">
                <a:solidFill>
                  <a:srgbClr val="E9C56A"/>
                </a:solidFill>
                <a:latin typeface="Cormorant Garamond"/>
              </a:rPr>
              <a:t>o que sente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1887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i="0" b="0">
                <a:solidFill>
                  <a:srgbClr val="D2C1CA"/>
                </a:solidFill>
                <a:latin typeface="Archivo"/>
              </a:rPr>
              <a:t>O que o paciente 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UM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solidFill>
            <a:srgbClr val="2B0739"/>
          </a:solidFill>
          <a:ln w="25400">
            <a:solidFill>
              <a:srgbClr val="DC44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2416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i="0" b="1">
                <a:solidFill>
                  <a:srgbClr val="DC447C"/>
                </a:solidFill>
                <a:latin typeface="Archivo"/>
              </a:rPr>
              <a:t>PARA O TIME: CASO CLÍNICO DO GABRIEL</a:t>
            </a:r>
          </a:p>
          <a:p>
            <a:pPr algn="l">
              <a:lnSpc>
                <a:spcPct val="115000"/>
              </a:lnSpc>
            </a:pPr>
            <a:r>
              <a:rPr sz="1500" i="0" b="0">
                <a:solidFill>
                  <a:srgbClr val="D2C1CA"/>
                </a:solidFill>
                <a:latin typeface="Archivo"/>
              </a:rPr>
              <a:t>Um caso real explicado pelo iceberg: o que o laudo mostrava e o que estava embaixo. Sem nome, foto ou qualquer dado que identifique o paciente.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EXERCÍCIO · A FOLHA DA PACIENTE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i="0" b="0">
                <a:solidFill>
                  <a:srgbClr val="E9C56A"/>
                </a:solidFill>
                <a:latin typeface="Cormorant Garamond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28016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FBF6EF"/>
                </a:solidFill>
                <a:latin typeface="Cormorant Garamond"/>
              </a:rPr>
              <a:t>No meio da folha, desenha um quadradinho pequeno. Esse é o laudo.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10972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i="0" b="0">
                <a:solidFill>
                  <a:srgbClr val="E9C56A"/>
                </a:solidFill>
                <a:latin typeface="Cormorant Garamon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7180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FBF6EF"/>
                </a:solidFill>
                <a:latin typeface="Cormorant Garamond"/>
              </a:rPr>
              <a:t>Fecha os olhos e lembra daquela paciente que voltou com o exame normal e continuava mal.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0972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i="0" b="0">
                <a:solidFill>
                  <a:srgbClr val="E9C56A"/>
                </a:solidFill>
                <a:latin typeface="Cormorant Garamo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66344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FBF6EF"/>
                </a:solidFill>
                <a:latin typeface="Cormorant Garamond"/>
              </a:rPr>
              <a:t>Em volta do quadradinho, escreve tudo o que ela te contou que não estava no laudo.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566160" y="457200"/>
            <a:ext cx="5029200" cy="5943600"/>
          </a:xfrm>
          <a:prstGeom prst="rect">
            <a:avLst/>
          </a:prstGeom>
          <a:solidFill>
            <a:srgbClr val="FBF6EF"/>
          </a:solidFill>
          <a:ln w="25400">
            <a:solidFill>
              <a:srgbClr val="D2C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0" y="3063240"/>
            <a:ext cx="731520" cy="731520"/>
          </a:xfrm>
          <a:prstGeom prst="rect">
            <a:avLst/>
          </a:prstGeom>
          <a:noFill/>
          <a:ln w="25400">
            <a:solidFill>
              <a:srgbClr val="2A0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0" y="30632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i="0" b="0">
                <a:solidFill>
                  <a:srgbClr val="2A0F1F"/>
                </a:solidFill>
                <a:latin typeface="Archivo"/>
              </a:rPr>
              <a:t>laudo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914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dorme 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intestino preso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cansaço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945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come no carro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separação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00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trabalho noturno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438912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ansiedade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remédio contínuo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5394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incha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4864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1" b="0">
                <a:solidFill>
                  <a:srgbClr val="2A0F1F"/>
                </a:solidFill>
                <a:latin typeface="Cormorant Garamond"/>
              </a:rPr>
              <a:t>sem fome de manhã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9456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i="0" b="0">
                <a:solidFill>
                  <a:srgbClr val="2A0F1F"/>
                </a:solidFill>
                <a:latin typeface="Cormorant Garamond"/>
              </a:rPr>
              <a:t>O laudo é o quadradinho.</a:t>
            </a:r>
          </a:p>
          <a:p>
            <a:pPr algn="l">
              <a:lnSpc>
                <a:spcPct val="100000"/>
              </a:lnSpc>
            </a:pPr>
            <a:r>
              <a:rPr sz="2800" i="1" b="0">
                <a:solidFill>
                  <a:srgbClr val="DC447C"/>
                </a:solidFill>
                <a:latin typeface="Cormorant Garamond"/>
              </a:rPr>
              <a:t>A paciente é tudo isso.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DC447C"/>
                </a:solidFill>
                <a:latin typeface="Archivo"/>
              </a:rPr>
              <a:t>● ME CONTA NO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i="0" b="0">
                <a:solidFill>
                  <a:srgbClr val="FBF6EF"/>
                </a:solidFill>
                <a:latin typeface="Cormorant Garamond"/>
              </a:rPr>
              <a:t>Escreve no chat uma coisa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i="0" b="0">
                <a:solidFill>
                  <a:srgbClr val="FBF6EF"/>
                </a:solidFill>
                <a:latin typeface="Cormorant Garamond"/>
              </a:rPr>
              <a:t>que está na tua folha.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rco-hipocr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4663440" cy="4663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60720" y="502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2.400 ANOS ATRÁS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1280160"/>
            <a:ext cx="585216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i="0" b="0">
                <a:solidFill>
                  <a:srgbClr val="FBF6EF"/>
                </a:solidFill>
                <a:latin typeface="Cormorant Garamond"/>
              </a:rPr>
              <a:t>Hipócrates já perguntava ao paciente</a:t>
            </a:r>
          </a:p>
          <a:p>
            <a:pPr algn="l">
              <a:lnSpc>
                <a:spcPct val="100000"/>
              </a:lnSpc>
            </a:pPr>
            <a:r>
              <a:rPr sz="4000" i="1" b="0">
                <a:solidFill>
                  <a:srgbClr val="E9C56A"/>
                </a:solidFill>
                <a:latin typeface="Cormorant Garamond"/>
              </a:rPr>
              <a:t>o que ele comia, como vivia, onde morava.</a:t>
            </a:r>
          </a:p>
          <a:p>
            <a:pPr algn="l">
              <a:lnSpc>
                <a:spcPct val="100000"/>
              </a:lnSpc>
            </a:pPr>
            <a:r>
              <a:rPr sz="1200" i="0" b="0">
                <a:solidFill>
                  <a:srgbClr val="FBF6EF"/>
                </a:solidFill>
                <a:latin typeface="Archivo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A gente não inventou nada. A gente só voltou a olhar.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200" i="0" b="0">
                <a:solidFill>
                  <a:srgbClr val="FBF6EF"/>
                </a:solidFill>
                <a:latin typeface="Cormorant Garamond"/>
              </a:rPr>
              <a:t>Ou tu já sabe isso,</a:t>
            </a:r>
          </a:p>
          <a:p>
            <a:pPr algn="ctr">
              <a:lnSpc>
                <a:spcPct val="95000"/>
              </a:lnSpc>
            </a:pPr>
            <a:r>
              <a:rPr sz="7200" i="1" b="0">
                <a:solidFill>
                  <a:srgbClr val="E9C56A"/>
                </a:solidFill>
                <a:latin typeface="Cormorant Garamond"/>
              </a:rPr>
              <a:t>ou tu ainda não sabe nada.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0" i="0" b="0">
                <a:solidFill>
                  <a:srgbClr val="FBF6EF"/>
                </a:solidFill>
                <a:latin typeface="Cormorant Garamond"/>
              </a:rPr>
              <a:t>Eu não trato exame.</a:t>
            </a:r>
          </a:p>
          <a:p>
            <a:pPr algn="ctr">
              <a:lnSpc>
                <a:spcPct val="95000"/>
              </a:lnSpc>
            </a:pPr>
            <a:r>
              <a:rPr sz="10000" i="1" b="0">
                <a:solidFill>
                  <a:srgbClr val="DC447C"/>
                </a:solidFill>
                <a:latin typeface="Cormorant Garamond"/>
              </a:rPr>
              <a:t>Eu trato gente.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400" i="0" b="0">
                <a:solidFill>
                  <a:srgbClr val="FBF6EF"/>
                </a:solidFill>
                <a:latin typeface="Cormorant Garamond"/>
              </a:rPr>
              <a:t>Tira uma foto da tua folha.</a:t>
            </a:r>
          </a:p>
          <a:p>
            <a:pPr algn="ctr">
              <a:lnSpc>
                <a:spcPct val="95000"/>
              </a:lnSpc>
            </a:pPr>
            <a:r>
              <a:rPr sz="5400" i="1" b="0">
                <a:solidFill>
                  <a:srgbClr val="E9C56A"/>
                </a:solidFill>
                <a:latin typeface="Cormorant Garamond"/>
              </a:rPr>
              <a:t>Posta nos stories e marca @fsa_saudeavancada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DC447C"/>
                </a:solidFill>
                <a:latin typeface="Archivo"/>
              </a:rPr>
              <a:t>● ME CONTA NO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De 0 a 10, quanta segurança tu sente quando o exame vem normal</a:t>
            </a:r>
          </a:p>
          <a:p>
            <a:pPr algn="l">
              <a:lnSpc>
                <a:spcPct val="100000"/>
              </a:lnSpc>
            </a:pPr>
            <a:r>
              <a:rPr sz="4400" i="1" b="0">
                <a:solidFill>
                  <a:srgbClr val="E9C56A"/>
                </a:solidFill>
                <a:latin typeface="Cormorant Garamond"/>
              </a:rPr>
              <a:t>e a paciente não melhora?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0</a:t>
            </a:r>
          </a:p>
        </p:txBody>
      </p:sp>
      <p:sp>
        <p:nvSpPr>
          <p:cNvPr id="6" name="Oval 5"/>
          <p:cNvSpPr/>
          <p:nvPr/>
        </p:nvSpPr>
        <p:spPr>
          <a:xfrm>
            <a:off x="1673352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73352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2660904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0904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3648456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4636008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5623560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6611112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7598664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98664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8586216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86216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8</a:t>
            </a:r>
          </a:p>
        </p:txBody>
      </p:sp>
      <p:sp>
        <p:nvSpPr>
          <p:cNvPr id="22" name="Oval 21"/>
          <p:cNvSpPr/>
          <p:nvPr/>
        </p:nvSpPr>
        <p:spPr>
          <a:xfrm>
            <a:off x="9573768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3768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9</a:t>
            </a:r>
          </a:p>
        </p:txBody>
      </p:sp>
      <p:sp>
        <p:nvSpPr>
          <p:cNvPr id="24" name="Oval 23"/>
          <p:cNvSpPr/>
          <p:nvPr/>
        </p:nvSpPr>
        <p:spPr>
          <a:xfrm>
            <a:off x="10561320" y="4572000"/>
            <a:ext cx="822960" cy="822960"/>
          </a:xfrm>
          <a:prstGeom prst="ellipse">
            <a:avLst/>
          </a:prstGeom>
          <a:noFill/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20" y="45720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i="0" b="0">
                <a:solidFill>
                  <a:srgbClr val="E9C56A"/>
                </a:solidFill>
                <a:latin typeface="Cormorant Garamond"/>
              </a:rPr>
              <a:t>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5120640" cy="5394960"/>
          </a:xfrm>
          <a:prstGeom prst="rect">
            <a:avLst/>
          </a:prstGeom>
          <a:solidFill>
            <a:srgbClr val="2B0739"/>
          </a:solidFill>
          <a:ln w="25400">
            <a:solidFill>
              <a:srgbClr val="DC447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005840"/>
            <a:ext cx="4480559" cy="4846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i="0" b="1">
                <a:solidFill>
                  <a:srgbClr val="DC447C"/>
                </a:solidFill>
                <a:latin typeface="Archivo"/>
              </a:rPr>
              <a:t>PARA O TIME: FOTO DO GABRIEL EM 1999</a:t>
            </a:r>
          </a:p>
          <a:p>
            <a:pPr algn="l">
              <a:lnSpc>
                <a:spcPct val="115000"/>
              </a:lnSpc>
            </a:pPr>
            <a:r>
              <a:rPr sz="1500" i="0" b="0">
                <a:solidFill>
                  <a:srgbClr val="D2C1CA"/>
                </a:solidFill>
                <a:latin typeface="Archivo"/>
              </a:rPr>
              <a:t>A foto de quando ele começou a ensinar Nutrição Funcional no Brasil. Vertical ou quadrada, a melhor resolução que tiverem.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i="0" b="0">
                <a:solidFill>
                  <a:srgbClr val="E9C56A"/>
                </a:solidFill>
                <a:latin typeface="Cormorant Garamond"/>
              </a:rPr>
              <a:t>1999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56616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FBF6EF"/>
                </a:solidFill>
                <a:latin typeface="Cormorant Garamond"/>
              </a:rPr>
              <a:t>O começo da Nutrição Funcional no Brasil.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fsa-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720090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01168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i="0" b="0">
                <a:solidFill>
                  <a:srgbClr val="E9C56A"/>
                </a:solidFill>
                <a:latin typeface="Cormorant Garamond"/>
              </a:rPr>
              <a:t>27 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ensinando Nutrição Funcional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201168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i="0" b="0">
                <a:solidFill>
                  <a:srgbClr val="E9C56A"/>
                </a:solidFill>
                <a:latin typeface="Cormorant Garamond"/>
              </a:rPr>
              <a:t>40 mil+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356616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alunos já estudaram na FSA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011680"/>
            <a:ext cx="3566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i="0" b="0">
                <a:solidFill>
                  <a:srgbClr val="E9C56A"/>
                </a:solidFill>
                <a:latin typeface="Cormorant Garamond"/>
              </a:rPr>
              <a:t>1999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56616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introduziu a Nutrição Funcional no Brasil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i="0" b="0">
                <a:solidFill>
                  <a:srgbClr val="D2C1CA"/>
                </a:solidFill>
                <a:latin typeface="Archivo"/>
              </a:rPr>
              <a:t>Primeiro profissional da América Latina certificado pelo The Institute for Functional Medicine (EUA)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abriel-fs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0"/>
            <a:ext cx="4354286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463040"/>
            <a:ext cx="7315200" cy="3840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i="0" b="0">
                <a:solidFill>
                  <a:srgbClr val="FBF6EF"/>
                </a:solidFill>
                <a:latin typeface="Cormorant Garamond"/>
              </a:rPr>
              <a:t>Em 27 anos ensinando,</a:t>
            </a:r>
          </a:p>
          <a:p>
            <a:pPr algn="l">
              <a:lnSpc>
                <a:spcPct val="95000"/>
              </a:lnSpc>
            </a:pPr>
            <a:r>
              <a:rPr sz="5600" i="0" b="0">
                <a:solidFill>
                  <a:srgbClr val="FBF6EF"/>
                </a:solidFill>
                <a:latin typeface="Cormorant Garamond"/>
              </a:rPr>
              <a:t>eu nunca fiz o que</a:t>
            </a:r>
          </a:p>
          <a:p>
            <a:pPr algn="l">
              <a:lnSpc>
                <a:spcPct val="95000"/>
              </a:lnSpc>
            </a:pPr>
            <a:r>
              <a:rPr sz="5600" i="1" b="0">
                <a:solidFill>
                  <a:srgbClr val="E9C56A"/>
                </a:solidFill>
                <a:latin typeface="Cormorant Garamond"/>
              </a:rPr>
              <a:t>vou fazer agora.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DC447C"/>
                </a:solidFill>
                <a:latin typeface="Archivo"/>
              </a:rPr>
              <a:t>● ME CONTA NO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i="0" b="0">
                <a:solidFill>
                  <a:srgbClr val="FBF6EF"/>
                </a:solidFill>
                <a:latin typeface="Cormorant Garamond"/>
              </a:rPr>
              <a:t>O acesso de alguma formação já venceu antes de tu terminar?</a:t>
            </a:r>
          </a:p>
          <a:p>
            <a:pPr algn="l">
              <a:lnSpc>
                <a:spcPct val="100000"/>
              </a:lnSpc>
            </a:pPr>
            <a:r>
              <a:rPr sz="4800" i="1" b="0">
                <a:solidFill>
                  <a:srgbClr val="E9C56A"/>
                </a:solidFill>
                <a:latin typeface="Cormorant Garamond"/>
              </a:rPr>
              <a:t>Ou tu quis voltar numa aula e não dava mais?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HOJE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i="0" b="0">
                <a:solidFill>
                  <a:srgbClr val="D2C1CA"/>
                </a:solidFill>
                <a:latin typeface="Cormorant Garamond"/>
              </a:rPr>
              <a:t>2 anos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2336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de acesso em cada formação da FSA.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NESTA BLACK, PELA PRIMEIRA VEZ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103120"/>
            <a:ext cx="11612880" cy="2560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i="0" b="0">
                <a:solidFill>
                  <a:srgbClr val="FBF6EF"/>
                </a:solidFill>
                <a:latin typeface="Archivo Black"/>
              </a:rPr>
              <a:t>VITALÍCIO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846320"/>
            <a:ext cx="11612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i="1" b="0">
                <a:solidFill>
                  <a:srgbClr val="E9C56A"/>
                </a:solidFill>
                <a:latin typeface="Cormorant Garamond"/>
              </a:rPr>
              <a:t>As formações ficam contigo. Para sempre.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0" i="0" b="0">
                <a:solidFill>
                  <a:srgbClr val="FBF6EF"/>
                </a:solidFill>
                <a:latin typeface="Cormorant Garamond"/>
              </a:rPr>
              <a:t>O caso difícil não avisa quando chega.</a:t>
            </a:r>
          </a:p>
          <a:p>
            <a:pPr algn="ctr">
              <a:lnSpc>
                <a:spcPct val="95000"/>
              </a:lnSpc>
            </a:pPr>
            <a:r>
              <a:rPr sz="5600" i="1" b="0">
                <a:solidFill>
                  <a:srgbClr val="E9C56A"/>
                </a:solidFill>
                <a:latin typeface="Cormorant Garamond"/>
              </a:rPr>
              <a:t>Quando ele chegar, a aula vai estar lá.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VITALÍCIO, DO JEITO CERTO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i="0" b="0">
                <a:solidFill>
                  <a:srgbClr val="FBF6EF"/>
                </a:solidFill>
                <a:latin typeface="Cormorant Garamond"/>
              </a:rPr>
              <a:t>Não é depósito de aula velha.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468880"/>
            <a:ext cx="54864" cy="1005840"/>
          </a:xfrm>
          <a:prstGeom prst="rect">
            <a:avLst/>
          </a:prstGeom>
          <a:solidFill>
            <a:srgbClr val="E0B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E9C56A"/>
                </a:solidFill>
                <a:latin typeface="Archivo"/>
              </a:rPr>
              <a:t>A formação inteira</a:t>
            </a:r>
          </a:p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a mesma que a FSA vende hoje.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794760"/>
            <a:ext cx="54864" cy="1005840"/>
          </a:xfrm>
          <a:prstGeom prst="rect">
            <a:avLst/>
          </a:prstGeom>
          <a:solidFill>
            <a:srgbClr val="E0B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E9C56A"/>
                </a:solidFill>
                <a:latin typeface="Archivo"/>
              </a:rPr>
              <a:t>As atualizações dela</a:t>
            </a:r>
          </a:p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aulas revisadas e conteúdos novos entram no teu acesso, sem custo.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120640"/>
            <a:ext cx="54864" cy="1005840"/>
          </a:xfrm>
          <a:prstGeom prst="rect">
            <a:avLst/>
          </a:prstGeom>
          <a:solidFill>
            <a:srgbClr val="E0B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i="0" b="1">
                <a:solidFill>
                  <a:srgbClr val="E9C56A"/>
                </a:solidFill>
                <a:latin typeface="Archivo"/>
              </a:rPr>
              <a:t>Sem letra miúda</a:t>
            </a:r>
          </a:p>
          <a:p>
            <a:pPr algn="l">
              <a:lnSpc>
                <a:spcPct val="11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nova, com outro nome ou outra versão (uma 4.0), é outro produto.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TRÊS PACOTES. ACESSO VITALÍCIO EM TODOS.</a:t>
            </a:r>
          </a:p>
        </p:txBody>
      </p:sp>
      <p:pic>
        <p:nvPicPr>
          <p:cNvPr id="3" name="Picture 2" descr="pacote-hipocr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3520440" cy="23652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70332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i="0" b="0">
                <a:solidFill>
                  <a:srgbClr val="E9C56A"/>
                </a:solidFill>
                <a:latin typeface="Cormorant Garamond"/>
              </a:rPr>
              <a:t>Hipócrates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F1E9EC"/>
                </a:solidFill>
                <a:latin typeface="Archivo"/>
              </a:rPr>
              <a:t>A base. Onde tudo começa.</a:t>
            </a:r>
          </a:p>
        </p:txBody>
      </p:sp>
      <p:pic>
        <p:nvPicPr>
          <p:cNvPr id="6" name="Picture 5" descr="pacote-galen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188720"/>
            <a:ext cx="3520440" cy="2365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7679" y="370332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i="0" b="0">
                <a:solidFill>
                  <a:srgbClr val="E9C56A"/>
                </a:solidFill>
                <a:latin typeface="Cormorant Garamond"/>
              </a:rPr>
              <a:t>Galeno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457200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F1E9EC"/>
                </a:solidFill>
                <a:latin typeface="Archivo"/>
              </a:rPr>
              <a:t>O raciocínio clínico além da referência.</a:t>
            </a:r>
          </a:p>
        </p:txBody>
      </p:sp>
      <p:pic>
        <p:nvPicPr>
          <p:cNvPr id="9" name="Picture 8" descr="pacote-olimp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9" y="1188720"/>
            <a:ext cx="3520440" cy="23652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19" y="3703320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i="0" b="0">
                <a:solidFill>
                  <a:srgbClr val="DC447C"/>
                </a:solidFill>
                <a:latin typeface="Cormorant Garamond"/>
              </a:rPr>
              <a:t>Olimpo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4572000"/>
            <a:ext cx="3520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i="0" b="0">
                <a:solidFill>
                  <a:srgbClr val="F1E9EC"/>
                </a:solidFill>
                <a:latin typeface="Archivo"/>
              </a:rPr>
              <a:t>Os dois juntos, e a Avançada de volta.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A BASE. ONDE TUDO COMEÇA.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i="0" b="0">
                <a:solidFill>
                  <a:srgbClr val="E9C56A"/>
                </a:solidFill>
                <a:latin typeface="Cormorant Garamond"/>
              </a:rPr>
              <a:t>Hipócrates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em Nutrição Funcional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2402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R$ 3.497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4378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em Suplementação Individualizada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R$ 4.497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958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Jejum: Ferramenta para a Saúde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R$ 997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1538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Hemograma: O Ponto Cego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R$ 497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0118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D2C1CA"/>
                </a:solidFill>
                <a:latin typeface="Archivo"/>
              </a:rPr>
              <a:t>Comprando separado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6692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R$ 9.488</a:t>
            </a:r>
          </a:p>
        </p:txBody>
      </p:sp>
      <p:pic>
        <p:nvPicPr>
          <p:cNvPr id="18" name="Picture 17" descr="marco-hipocr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8016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O RACIOCÍNIO CLÍNICO ALÉM DA REFERÊNCIA.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i="0" b="0">
                <a:solidFill>
                  <a:srgbClr val="E9C56A"/>
                </a:solidFill>
                <a:latin typeface="Cormorant Garamond"/>
              </a:rPr>
              <a:t>Galeno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em Exames Laboratoriais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2402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R$ 3.497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4378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em Saúde Hormonal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9260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R$ 3.497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958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Fertilidade e Gestação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11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R$ 1.997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1538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Alergias Alimentares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976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R$ 697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0118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D2C1CA"/>
                </a:solidFill>
                <a:latin typeface="Archivo"/>
              </a:rPr>
              <a:t>Comprando separado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6692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R$ 9.688</a:t>
            </a:r>
          </a:p>
        </p:txBody>
      </p:sp>
      <p:pic>
        <p:nvPicPr>
          <p:cNvPr id="18" name="Picture 17" descr="marco-gale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8016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HIPÓCRATES + GALENO, SEM REPETIR AULA, E A AVANÇADA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i="0" b="0">
                <a:solidFill>
                  <a:srgbClr val="DC447C"/>
                </a:solidFill>
                <a:latin typeface="Cormorant Garamond"/>
              </a:rPr>
              <a:t>Olimpo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em Nutrição Funcional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2402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R$ 3.497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34056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em Suplementação Individualizada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734056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R$ 4.497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45536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2783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Jejum: Ferramenta para a Saúde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227832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R$ 997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9312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21608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em Exames Laboratoriais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21608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R$ 3.497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33088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1538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em Saúde Hormonal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15384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R$ 3.497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26864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0916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Fertilidade e Gestação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70916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R$ 1.997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02936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i="0" b="0">
                <a:solidFill>
                  <a:srgbClr val="F1E9EC"/>
                </a:solidFill>
                <a:latin typeface="Archivo"/>
              </a:rPr>
              <a:t>Formação Avançada em Nutrição Funcional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202936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i="0" b="0">
                <a:solidFill>
                  <a:srgbClr val="D2C1CA"/>
                </a:solidFill>
                <a:latin typeface="Archivo"/>
              </a:rPr>
              <a:t>R$ 1.988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14416"/>
            <a:ext cx="731520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D2C1CA"/>
                </a:solidFill>
                <a:latin typeface="Archivo"/>
              </a:rPr>
              <a:t>Comprando separado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66928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R$ 19.970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188720"/>
            <a:ext cx="3429000" cy="4206240"/>
          </a:xfrm>
          <a:prstGeom prst="rect">
            <a:avLst/>
          </a:prstGeom>
          <a:solidFill>
            <a:srgbClr val="2B0739"/>
          </a:solidFill>
          <a:ln w="25400">
            <a:solidFill>
              <a:srgbClr val="E0B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417320"/>
            <a:ext cx="292608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i="0" b="1">
                <a:solidFill>
                  <a:srgbClr val="E0B64F"/>
                </a:solidFill>
                <a:latin typeface="Archivo"/>
              </a:rPr>
              <a:t>DE VOLTA, SÓ NO OLIMPO</a:t>
            </a:r>
          </a:p>
          <a:p>
            <a:pPr algn="l">
              <a:lnSpc>
                <a:spcPct val="110000"/>
              </a:lnSpc>
            </a:pPr>
            <a:r>
              <a:rPr sz="3000" i="0" b="0">
                <a:solidFill>
                  <a:srgbClr val="FBF6EF"/>
                </a:solidFill>
                <a:latin typeface="Cormorant Garamond"/>
              </a:rPr>
              <a:t>Formação Avançada em Nutrição Funcional</a:t>
            </a:r>
          </a:p>
          <a:p>
            <a:pPr algn="l">
              <a:lnSpc>
                <a:spcPct val="110000"/>
              </a:lnSpc>
            </a:pPr>
            <a:r>
              <a:rPr sz="1600" i="0" b="0">
                <a:solidFill>
                  <a:srgbClr val="D2C1CA"/>
                </a:solidFill>
                <a:latin typeface="Archivo"/>
              </a:rPr>
              <a:t>19 aulas · 72 h · com o Gabriel</a:t>
            </a:r>
          </a:p>
          <a:p>
            <a:pPr algn="l">
              <a:lnSpc>
                <a:spcPct val="110000"/>
              </a:lnSpc>
            </a:pPr>
            <a:r>
              <a:rPr sz="1600" i="0" b="0">
                <a:solidFill>
                  <a:srgbClr val="D2C1CA"/>
                </a:solidFill>
                <a:latin typeface="Archivo"/>
              </a:rPr>
              <a:t>Valor de venda: R$ 1.988</a:t>
            </a:r>
          </a:p>
          <a:p>
            <a:pPr algn="l">
              <a:lnSpc>
                <a:spcPct val="110000"/>
              </a:lnSpc>
            </a:pPr>
            <a:r>
              <a:rPr sz="800" i="0" b="0">
                <a:solidFill>
                  <a:srgbClr val="D2C1CA"/>
                </a:solidFill>
                <a:latin typeface="Archivo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400" i="0" b="0">
                <a:solidFill>
                  <a:srgbClr val="F1E9EC"/>
                </a:solidFill>
                <a:latin typeface="Archivo"/>
              </a:rPr>
              <a:t>Sem pagar duas vezes a mesma aula: Hemograma já está em Exames, e Alergias já está na NF 3.0.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A CONTA DO VITALÍCIO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FBF6EF"/>
                </a:solidFill>
                <a:latin typeface="Cormorant Garamond"/>
              </a:rPr>
              <a:t>Para estudar 6 anos sem o vitalício, tu compraria a mesma formação 3 vezes.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PACOTE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HOJE, 2 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5146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EM 6 ANOS, COMPRANDO DE NOVO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931920"/>
            <a:ext cx="1106424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FBF6EF"/>
                </a:solidFill>
                <a:latin typeface="Archivo"/>
              </a:rPr>
              <a:t>Hipócrates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31089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3200" i="0" b="0">
                <a:solidFill>
                  <a:srgbClr val="F1E9EC"/>
                </a:solidFill>
                <a:latin typeface="Cormorant Garamond"/>
              </a:rPr>
              <a:t>R$ 9.488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1089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i="0" b="0">
                <a:solidFill>
                  <a:srgbClr val="DC447C"/>
                </a:solidFill>
                <a:latin typeface="Cormorant Garamond"/>
              </a:rPr>
              <a:t>R$ 28.464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46320"/>
            <a:ext cx="1106424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FBF6EF"/>
                </a:solidFill>
                <a:latin typeface="Archivo"/>
              </a:rPr>
              <a:t>Galeno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40233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3200" i="0" b="0">
                <a:solidFill>
                  <a:srgbClr val="F1E9EC"/>
                </a:solidFill>
                <a:latin typeface="Cormorant Garamond"/>
              </a:rPr>
              <a:t>R$ 9.688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0233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i="0" b="0">
                <a:solidFill>
                  <a:srgbClr val="DC447C"/>
                </a:solidFill>
                <a:latin typeface="Cormorant Garamond"/>
              </a:rPr>
              <a:t>R$ 29.064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760720"/>
            <a:ext cx="11064240" cy="9144"/>
          </a:xfrm>
          <a:prstGeom prst="rect">
            <a:avLst/>
          </a:prstGeom>
          <a:solidFill>
            <a:srgbClr val="3A1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37760"/>
            <a:ext cx="34747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FBF6EF"/>
                </a:solidFill>
                <a:latin typeface="Archivo"/>
              </a:rPr>
              <a:t>Olimpo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93776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3200" i="0" b="0">
                <a:solidFill>
                  <a:srgbClr val="F1E9EC"/>
                </a:solidFill>
                <a:latin typeface="Cormorant Garamond"/>
              </a:rPr>
              <a:t>R$ 19.970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93776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4000" i="0" b="0">
                <a:solidFill>
                  <a:srgbClr val="DC447C"/>
                </a:solidFill>
                <a:latin typeface="Cormorant Garamond"/>
              </a:rPr>
              <a:t>R$ 59.910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i="0" b="0">
                <a:solidFill>
                  <a:srgbClr val="D2C1CA"/>
                </a:solidFill>
                <a:latin typeface="Archivo"/>
              </a:rPr>
              <a:t>Simulação comprando de novo a cada 2 anos, pelos preços de hoje à vista.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ANTES DE DECIDIR · 1/5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i="1" b="0">
                <a:solidFill>
                  <a:srgbClr val="D2C1CA"/>
                </a:solidFill>
                <a:latin typeface="Cormorant Garamond"/>
              </a:rPr>
              <a:t>"Gabriel, eu não sei se vou dar conta do conteúdo."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94760"/>
            <a:ext cx="1097280" cy="36576"/>
          </a:xfrm>
          <a:prstGeom prst="rect">
            <a:avLst/>
          </a:prstGeom>
          <a:solidFill>
            <a:srgbClr val="E0B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É gravado. Tu assiste no teu ritmo e volta quantas vezes precisar. Para sempre.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ANTES DE DECIDIR · 2/5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i="1" b="0">
                <a:solidFill>
                  <a:srgbClr val="D2C1CA"/>
                </a:solidFill>
                <a:latin typeface="Cormorant Garamond"/>
              </a:rPr>
              <a:t>"Gabriel, eu não tenho tempo agora."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94760"/>
            <a:ext cx="1097280" cy="36576"/>
          </a:xfrm>
          <a:prstGeom prst="rect">
            <a:avLst/>
          </a:prstGeom>
          <a:solidFill>
            <a:srgbClr val="E0B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É vitalício. Não tem relógio correndo. Tu começa quando puder.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ANTES DE DECIDIR · 3/5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i="1" b="0">
                <a:solidFill>
                  <a:srgbClr val="D2C1CA"/>
                </a:solidFill>
                <a:latin typeface="Cormorant Garamond"/>
              </a:rPr>
              <a:t>"Eu já tenho uma das formações."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94760"/>
            <a:ext cx="1097280" cy="36576"/>
          </a:xfrm>
          <a:prstGeom prst="rect">
            <a:avLst/>
          </a:prstGeom>
          <a:solidFill>
            <a:srgbClr val="E0B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Ela vem no pacote, agora vitalícia. E no Olimpo tu leva tudo o que ainda não tem, sem repetir aula.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ANTES DE DECIDIR · 4/5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i="1" b="0">
                <a:solidFill>
                  <a:srgbClr val="D2C1CA"/>
                </a:solidFill>
                <a:latin typeface="Cormorant Garamond"/>
              </a:rPr>
              <a:t>"Depois eu estudo."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94760"/>
            <a:ext cx="1097280" cy="36576"/>
          </a:xfrm>
          <a:prstGeom prst="rect">
            <a:avLst/>
          </a:prstGeom>
          <a:solidFill>
            <a:srgbClr val="E0B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Depois é o que a Narrativa Cega mais gosta de ouvir.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i="0" b="1">
                <a:solidFill>
                  <a:srgbClr val="E0B64F"/>
                </a:solidFill>
                <a:latin typeface="Archivo"/>
              </a:rPr>
              <a:t>ANTES DE DECIDIR · 5/5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i="1" b="0">
                <a:solidFill>
                  <a:srgbClr val="D2C1CA"/>
                </a:solidFill>
                <a:latin typeface="Cormorant Garamond"/>
              </a:rPr>
              <a:t>"E se eu me arrepender?"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794760"/>
            <a:ext cx="1097280" cy="36576"/>
          </a:xfrm>
          <a:prstGeom prst="rect">
            <a:avLst/>
          </a:prstGeom>
          <a:solidFill>
            <a:srgbClr val="E0B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64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i="0" b="0">
                <a:solidFill>
                  <a:srgbClr val="FBF6EF"/>
                </a:solidFill>
                <a:latin typeface="Cormorant Garamond"/>
              </a:rPr>
              <a:t>15 dias de garantia incondicional. Assiste com calma. Se não for para ti, devolvemos 100% do valor.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3108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6000" i="0" b="0">
                <a:solidFill>
                  <a:srgbClr val="FBF6EF"/>
                </a:solidFill>
                <a:latin typeface="Cormorant Garamond"/>
              </a:rPr>
              <a:t>Faz por ti.</a:t>
            </a:r>
          </a:p>
          <a:p>
            <a:pPr algn="ctr">
              <a:lnSpc>
                <a:spcPct val="95000"/>
              </a:lnSpc>
            </a:pPr>
            <a:r>
              <a:rPr sz="6000" i="1" b="0">
                <a:solidFill>
                  <a:srgbClr val="E9C56A"/>
                </a:solidFill>
                <a:latin typeface="Cormorant Garamond"/>
              </a:rPr>
              <a:t>Por ti, que já viu a paciente voltar vezes demais.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2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i="0" b="1">
                <a:solidFill>
                  <a:srgbClr val="E0B64F"/>
                </a:solidFill>
                <a:latin typeface="Archivo"/>
              </a:rPr>
              <a:t>NA BLACK, PARA SEMPRE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2606040" cy="4023360"/>
          </a:xfrm>
          <a:prstGeom prst="rect">
            <a:avLst/>
          </a:prstGeom>
          <a:solidFill>
            <a:srgbClr val="1D0616"/>
          </a:solidFill>
          <a:ln w="25400">
            <a:solidFill>
              <a:srgbClr val="3A1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E9C56A"/>
                </a:solidFill>
                <a:latin typeface="Cormorant Garamond"/>
              </a:rPr>
              <a:t>Hipócrates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i="0" b="0" strike="sngStrike">
                <a:solidFill>
                  <a:srgbClr val="D2C1CA"/>
                </a:solidFill>
                <a:latin typeface="Archivo"/>
              </a:rPr>
              <a:t>separado R$ 9.488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i="0" b="0">
                <a:solidFill>
                  <a:srgbClr val="D2C1CA"/>
                </a:solidFill>
                <a:latin typeface="Archivo"/>
              </a:rPr>
              <a:t>à vista, com desconto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i="0" b="0">
                <a:solidFill>
                  <a:srgbClr val="FBF6EF"/>
                </a:solidFill>
                <a:latin typeface="Cormorant Garamond"/>
              </a:rPr>
              <a:t>R$ 5.947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1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i="0" b="1">
                <a:solidFill>
                  <a:srgbClr val="F1E9EC"/>
                </a:solidFill>
                <a:latin typeface="Archivo"/>
              </a:rPr>
              <a:t>ou 12x R$ 579,40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960120"/>
            <a:ext cx="2606040" cy="4023360"/>
          </a:xfrm>
          <a:prstGeom prst="rect">
            <a:avLst/>
          </a:prstGeom>
          <a:solidFill>
            <a:srgbClr val="1D0616"/>
          </a:solidFill>
          <a:ln w="25400">
            <a:solidFill>
              <a:srgbClr val="3A1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1430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E9C56A"/>
                </a:solidFill>
                <a:latin typeface="Cormorant Garamond"/>
              </a:rPr>
              <a:t>Galeno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i="0" b="0" strike="sngStrike">
                <a:solidFill>
                  <a:srgbClr val="D2C1CA"/>
                </a:solidFill>
                <a:latin typeface="Archivo"/>
              </a:rPr>
              <a:t>separado R$ 9.688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i="0" b="0">
                <a:solidFill>
                  <a:srgbClr val="D2C1CA"/>
                </a:solidFill>
                <a:latin typeface="Archivo"/>
              </a:rPr>
              <a:t>à vista, com desconto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432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i="0" b="0">
                <a:solidFill>
                  <a:srgbClr val="FBF6EF"/>
                </a:solidFill>
                <a:latin typeface="Cormorant Garamond"/>
              </a:rPr>
              <a:t>R$ 5.947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61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i="0" b="1">
                <a:solidFill>
                  <a:srgbClr val="F1E9EC"/>
                </a:solidFill>
                <a:latin typeface="Archivo"/>
              </a:rPr>
              <a:t>ou 12x R$ 579,40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79" y="960120"/>
            <a:ext cx="2606040" cy="4023360"/>
          </a:xfrm>
          <a:prstGeom prst="rect">
            <a:avLst/>
          </a:prstGeom>
          <a:solidFill>
            <a:srgbClr val="2B0739"/>
          </a:solidFill>
          <a:ln w="25400">
            <a:solidFill>
              <a:srgbClr val="DC4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1430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DC447C"/>
                </a:solidFill>
                <a:latin typeface="Cormorant Garamond"/>
              </a:rPr>
              <a:t>Olimpo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19202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i="0" b="0" strike="sngStrike">
                <a:solidFill>
                  <a:srgbClr val="D2C1CA"/>
                </a:solidFill>
                <a:latin typeface="Archivo"/>
              </a:rPr>
              <a:t>separado R$ 19.970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242316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i="0" b="0">
                <a:solidFill>
                  <a:srgbClr val="D2C1CA"/>
                </a:solidFill>
                <a:latin typeface="Archivo"/>
              </a:rPr>
              <a:t>à vista, com desconto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27432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i="0" b="0">
                <a:solidFill>
                  <a:srgbClr val="FBF6EF"/>
                </a:solidFill>
                <a:latin typeface="Cormorant Garamond"/>
              </a:rPr>
              <a:t>R$ 9.947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36118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i="0" b="1">
                <a:solidFill>
                  <a:srgbClr val="F1E9EC"/>
                </a:solidFill>
                <a:latin typeface="Archivo"/>
              </a:rPr>
              <a:t>ou 12x R$ 969,11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411480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i="0" b="0">
                <a:solidFill>
                  <a:srgbClr val="E0B64F"/>
                </a:solidFill>
                <a:latin typeface="Archivo"/>
              </a:rPr>
              <a:t>Um sexto do que custariam 6 anos. Com a Avançada.</a:t>
            </a:r>
          </a:p>
        </p:txBody>
      </p:sp>
      <p:pic>
        <p:nvPicPr>
          <p:cNvPr id="22" name="Picture 21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960120"/>
            <a:ext cx="2331720" cy="23317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98280" y="3429000"/>
            <a:ext cx="2697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i="0" b="1">
                <a:solidFill>
                  <a:srgbClr val="FBF6EF"/>
                </a:solidFill>
                <a:latin typeface="Archivo"/>
              </a:rPr>
              <a:t>black.saudeavancada.com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DC4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0" b="1">
                <a:solidFill>
                  <a:srgbClr val="FBF6EF"/>
                </a:solidFill>
                <a:latin typeface="Archivo"/>
              </a:rPr>
              <a:t>O vitalício fecha dia 31/10, às 23h59.  </a:t>
            </a:r>
            <a:r>
              <a:rPr sz="1800" i="0" b="0">
                <a:solidFill>
                  <a:srgbClr val="FBF6EF"/>
                </a:solidFill>
                <a:latin typeface="Archivo"/>
              </a:rPr>
              <a:t>Link aqui embaixo e na bio.  15 dias de garantia.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